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6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8" r:id="rId4"/>
    <p:sldId id="261" r:id="rId5"/>
    <p:sldId id="262" r:id="rId6"/>
    <p:sldId id="264" r:id="rId7"/>
    <p:sldId id="265" r:id="rId8"/>
    <p:sldId id="263" r:id="rId9"/>
    <p:sldId id="259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60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16">
          <p15:clr>
            <a:srgbClr val="A4A3A4"/>
          </p15:clr>
        </p15:guide>
        <p15:guide id="2" pos="287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50A0A61-1CE1-43FC-A0B2-4807F1D7D8E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2"/>
    <p:restoredTop sz="93855" autoAdjust="0"/>
  </p:normalViewPr>
  <p:slideViewPr>
    <p:cSldViewPr snapToGrid="0">
      <p:cViewPr varScale="1">
        <p:scale>
          <a:sx n="131" d="100"/>
          <a:sy n="131" d="100"/>
        </p:scale>
        <p:origin x="132" y="1200"/>
      </p:cViewPr>
      <p:guideLst>
        <p:guide orient="horz" pos="1616"/>
        <p:guide pos="28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138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71041C10-C4F4-41DF-A635-3783B359AC65}" type="datetime1">
              <a:rPr lang="en-CA"/>
              <a:pPr lvl="0">
                <a:defRPr/>
              </a:pPr>
              <a:t>2025-11-03</a:t>
            </a:fld>
            <a:endParaRPr lang="en-CA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5477CAA1-E64A-44A7-B1CD-5D64420BD71E}" type="slidenum">
              <a:rPr lang="en-CA"/>
              <a:pPr lvl="0">
                <a:defRPr/>
              </a:pPr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부제목 2">
            <a:extLst>
              <a:ext uri="{FF2B5EF4-FFF2-40B4-BE49-F238E27FC236}">
                <a16:creationId xmlns:a16="http://schemas.microsoft.com/office/drawing/2014/main" id="{D2E5EF59-9093-E225-9A21-1FA9AA765C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54123" y="2813005"/>
            <a:ext cx="6050744" cy="1234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spc="300">
                <a:latin typeface="+mn-lt"/>
                <a:ea typeface="나눔스퀘어" panose="020B0600000101010101" pitchFamily="50" charset="-127"/>
                <a:cs typeface="Calibri" panose="020F0502020204030204" pitchFamily="34" charset="0"/>
              </a:defRPr>
            </a:lvl1pPr>
          </a:lstStyle>
          <a:p>
            <a:r>
              <a:rPr lang="en-CA" dirty="0" err="1"/>
              <a:t>yyyy</a:t>
            </a:r>
            <a:r>
              <a:rPr lang="en-CA" dirty="0"/>
              <a:t>-mm-dd</a:t>
            </a:r>
          </a:p>
          <a:p>
            <a:r>
              <a:rPr lang="en-CA" dirty="0" err="1"/>
              <a:t>HnVLab</a:t>
            </a:r>
            <a:endParaRPr lang="en-CA" dirty="0"/>
          </a:p>
          <a:p>
            <a:r>
              <a:rPr lang="ko-KR" altLang="en-US" dirty="0"/>
              <a:t>이름</a:t>
            </a:r>
            <a:endParaRPr lang="en-CA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02D34CA-82BA-EC22-4EF2-DAC9337C29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34" t="30991" r="18439" b="32147"/>
          <a:stretch/>
        </p:blipFill>
        <p:spPr>
          <a:xfrm>
            <a:off x="7907312" y="4407256"/>
            <a:ext cx="1131758" cy="651590"/>
          </a:xfrm>
          <a:prstGeom prst="rect">
            <a:avLst/>
          </a:prstGeom>
        </p:spPr>
      </p:pic>
      <p:sp>
        <p:nvSpPr>
          <p:cNvPr id="18" name="Google Shape;13;p3">
            <a:extLst>
              <a:ext uri="{FF2B5EF4-FFF2-40B4-BE49-F238E27FC236}">
                <a16:creationId xmlns:a16="http://schemas.microsoft.com/office/drawing/2014/main" id="{CE01C8B8-4D53-B2E5-7921-589C1A6316E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16443" y="1009849"/>
            <a:ext cx="8719521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40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6307DB4C-51F1-CE9B-3568-3FEC847A7E51}"/>
              </a:ext>
            </a:extLst>
          </p:cNvPr>
          <p:cNvCxnSpPr>
            <a:cxnSpLocks/>
          </p:cNvCxnSpPr>
          <p:nvPr userDrawn="1"/>
        </p:nvCxnSpPr>
        <p:spPr>
          <a:xfrm>
            <a:off x="216443" y="661184"/>
            <a:ext cx="8726104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FA42C3-1746-ADF7-7495-FEC73E3BE6F7}"/>
              </a:ext>
            </a:extLst>
          </p:cNvPr>
          <p:cNvGrpSpPr/>
          <p:nvPr userDrawn="1"/>
        </p:nvGrpSpPr>
        <p:grpSpPr>
          <a:xfrm>
            <a:off x="209860" y="2223409"/>
            <a:ext cx="8726104" cy="0"/>
            <a:chOff x="187375" y="2223409"/>
            <a:chExt cx="8726104" cy="0"/>
          </a:xfrm>
        </p:grpSpPr>
        <p:cxnSp>
          <p:nvCxnSpPr>
            <p:cNvPr id="20" name="직선 연결선[R] 19">
              <a:extLst>
                <a:ext uri="{FF2B5EF4-FFF2-40B4-BE49-F238E27FC236}">
                  <a16:creationId xmlns:a16="http://schemas.microsoft.com/office/drawing/2014/main" id="{7FFA8791-FFEE-9C9E-BD35-A78EBD4E17C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87375" y="2223409"/>
              <a:ext cx="6277433" cy="0"/>
            </a:xfrm>
            <a:prstGeom prst="line">
              <a:avLst/>
            </a:prstGeom>
            <a:ln w="444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직선 연결선[R] 20">
              <a:extLst>
                <a:ext uri="{FF2B5EF4-FFF2-40B4-BE49-F238E27FC236}">
                  <a16:creationId xmlns:a16="http://schemas.microsoft.com/office/drawing/2014/main" id="{485B8958-1472-BDB6-C9C9-50DD6C4309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4808" y="2223409"/>
              <a:ext cx="2448671" cy="0"/>
            </a:xfrm>
            <a:prstGeom prst="line">
              <a:avLst/>
            </a:prstGeom>
            <a:ln w="44450">
              <a:solidFill>
                <a:srgbClr val="2C7344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1F6AA72-91B6-A614-CA0A-5799F12D87FA}"/>
              </a:ext>
            </a:extLst>
          </p:cNvPr>
          <p:cNvGrpSpPr/>
          <p:nvPr userDrawn="1"/>
        </p:nvGrpSpPr>
        <p:grpSpPr>
          <a:xfrm>
            <a:off x="187375" y="4709219"/>
            <a:ext cx="1465674" cy="269391"/>
            <a:chOff x="5883552" y="4033871"/>
            <a:chExt cx="2660841" cy="516610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51116D72-49FE-7D8D-1213-7A30DFD418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l="9113" t="51157" r="72071" b="22250"/>
            <a:stretch/>
          </p:blipFill>
          <p:spPr>
            <a:xfrm>
              <a:off x="5883552" y="4033871"/>
              <a:ext cx="517247" cy="516610"/>
            </a:xfrm>
            <a:prstGeom prst="rect">
              <a:avLst/>
            </a:pr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8C8EF5E-7441-55A9-0900-1AB5DA53395D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25065" t="45412" r="14350" b="44627"/>
            <a:stretch/>
          </p:blipFill>
          <p:spPr>
            <a:xfrm>
              <a:off x="6340839" y="4033871"/>
              <a:ext cx="2203554" cy="5123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2215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45915A-86F7-4DD9-77F1-F250184E3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66" y="614601"/>
            <a:ext cx="8683730" cy="4251011"/>
          </a:xfrm>
        </p:spPr>
        <p:txBody>
          <a:bodyPr>
            <a:normAutofit/>
          </a:bodyPr>
          <a:lstStyle>
            <a:lvl1pPr>
              <a:defRPr sz="2000"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>
              <a:defRPr sz="1800"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>
              <a:defRPr sz="1600"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EB9DB-F6A4-1D82-CE8A-348BCA267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46240"/>
            <a:ext cx="2057400" cy="174774"/>
          </a:xfrm>
        </p:spPr>
        <p:txBody>
          <a:bodyPr/>
          <a:lstStyle>
            <a:lvl1pPr algn="ctr">
              <a:defRPr sz="800"/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EF0DFD4-B244-4B4F-36F1-C119A7E7CEDC}"/>
              </a:ext>
            </a:extLst>
          </p:cNvPr>
          <p:cNvCxnSpPr>
            <a:cxnSpLocks/>
          </p:cNvCxnSpPr>
          <p:nvPr userDrawn="1"/>
        </p:nvCxnSpPr>
        <p:spPr>
          <a:xfrm>
            <a:off x="227066" y="527390"/>
            <a:ext cx="8683731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6DD1A034-551E-CB59-B361-330134AF37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05" t="59669" r="18440" b="32147"/>
          <a:stretch/>
        </p:blipFill>
        <p:spPr>
          <a:xfrm>
            <a:off x="7803801" y="4974307"/>
            <a:ext cx="1340199" cy="174774"/>
          </a:xfrm>
          <a:prstGeom prst="rect">
            <a:avLst/>
          </a:prstGeom>
        </p:spPr>
      </p:pic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739129E3-13EA-B682-D3F1-0EA525FA2737}"/>
              </a:ext>
            </a:extLst>
          </p:cNvPr>
          <p:cNvCxnSpPr>
            <a:cxnSpLocks/>
          </p:cNvCxnSpPr>
          <p:nvPr userDrawn="1"/>
        </p:nvCxnSpPr>
        <p:spPr>
          <a:xfrm>
            <a:off x="0" y="4904791"/>
            <a:ext cx="9144000" cy="30338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3;p3">
            <a:extLst>
              <a:ext uri="{FF2B5EF4-FFF2-40B4-BE49-F238E27FC236}">
                <a16:creationId xmlns:a16="http://schemas.microsoft.com/office/drawing/2014/main" id="{82F6C43D-55D5-1364-577E-EC3159BC092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31433" y="72008"/>
            <a:ext cx="8683730" cy="41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24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4926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45915A-86F7-4DD9-77F1-F250184E3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66" y="614602"/>
            <a:ext cx="8683730" cy="4135368"/>
          </a:xfrm>
        </p:spPr>
        <p:txBody>
          <a:bodyPr>
            <a:normAutofit/>
          </a:bodyPr>
          <a:lstStyle>
            <a:lvl1pPr>
              <a:defRPr sz="2000"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  <a:lvl2pPr>
              <a:defRPr sz="1800">
                <a:latin typeface="나눔스퀘어" panose="020B0600000101010101" pitchFamily="50" charset="-127"/>
                <a:ea typeface="나눔스퀘어" panose="020B0600000101010101" pitchFamily="50" charset="-127"/>
              </a:defRPr>
            </a:lvl2pPr>
            <a:lvl3pPr>
              <a:defRPr sz="1600">
                <a:latin typeface="나눔스퀘어" panose="020B0600000101010101" pitchFamily="50" charset="-127"/>
                <a:ea typeface="나눔스퀘어" panose="020B0600000101010101" pitchFamily="50" charset="-127"/>
              </a:defRPr>
            </a:lvl3pPr>
            <a:lvl4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4pPr>
            <a:lvl5pPr>
              <a:defRPr sz="1400">
                <a:latin typeface="나눔스퀘어" panose="020B0600000101010101" pitchFamily="50" charset="-127"/>
                <a:ea typeface="나눔스퀘어" panose="020B0600000101010101" pitchFamily="50" charset="-127"/>
              </a:defRPr>
            </a:lvl5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EB9DB-F6A4-1D82-CE8A-348BCA267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46240"/>
            <a:ext cx="2057400" cy="174774"/>
          </a:xfrm>
        </p:spPr>
        <p:txBody>
          <a:bodyPr/>
          <a:lstStyle>
            <a:lvl1pPr algn="ctr">
              <a:defRPr sz="800"/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9" name="텍스트 개체 틀 6">
            <a:extLst>
              <a:ext uri="{FF2B5EF4-FFF2-40B4-BE49-F238E27FC236}">
                <a16:creationId xmlns:a16="http://schemas.microsoft.com/office/drawing/2014/main" id="{B8F8755B-9990-6E2F-1633-40F4FB764D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817472"/>
            <a:ext cx="5869616" cy="144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00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</a:lstStyle>
          <a:p>
            <a:pPr lvl="0"/>
            <a:r>
              <a:rPr lang="ko-KR" altLang="en-US" dirty="0"/>
              <a:t>논문 등 출처 </a:t>
            </a:r>
            <a:r>
              <a:rPr lang="en-CA" altLang="ko-KR" dirty="0"/>
              <a:t>(</a:t>
            </a:r>
            <a:r>
              <a:rPr lang="ko-KR" altLang="en-US" dirty="0"/>
              <a:t>예</a:t>
            </a:r>
            <a:r>
              <a:rPr lang="en-CA" altLang="ko-KR" dirty="0"/>
              <a:t>: </a:t>
            </a:r>
            <a:r>
              <a:rPr lang="en-CA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Redmon, Joseph, et al. "You only look once: Unified, real-time object detection." </a:t>
            </a:r>
            <a:r>
              <a:rPr lang="en-CA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IEEE conference on computer vision and pattern recognition</a:t>
            </a:r>
            <a:r>
              <a:rPr lang="en-CA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 2016.)</a:t>
            </a:r>
            <a:endParaRPr lang="en-CA" dirty="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EF0DFD4-B244-4B4F-36F1-C119A7E7CEDC}"/>
              </a:ext>
            </a:extLst>
          </p:cNvPr>
          <p:cNvCxnSpPr>
            <a:cxnSpLocks/>
          </p:cNvCxnSpPr>
          <p:nvPr userDrawn="1"/>
        </p:nvCxnSpPr>
        <p:spPr>
          <a:xfrm>
            <a:off x="227066" y="527390"/>
            <a:ext cx="8683731" cy="0"/>
          </a:xfrm>
          <a:prstGeom prst="line">
            <a:avLst/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6DD1A034-551E-CB59-B361-330134AF37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05" t="59669" r="18440" b="32147"/>
          <a:stretch/>
        </p:blipFill>
        <p:spPr>
          <a:xfrm>
            <a:off x="7803801" y="4974307"/>
            <a:ext cx="1340199" cy="174774"/>
          </a:xfrm>
          <a:prstGeom prst="rect">
            <a:avLst/>
          </a:prstGeom>
        </p:spPr>
      </p:pic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739129E3-13EA-B682-D3F1-0EA525FA2737}"/>
              </a:ext>
            </a:extLst>
          </p:cNvPr>
          <p:cNvCxnSpPr>
            <a:cxnSpLocks/>
          </p:cNvCxnSpPr>
          <p:nvPr userDrawn="1"/>
        </p:nvCxnSpPr>
        <p:spPr>
          <a:xfrm>
            <a:off x="0" y="4904791"/>
            <a:ext cx="9144000" cy="30338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3;p3">
            <a:extLst>
              <a:ext uri="{FF2B5EF4-FFF2-40B4-BE49-F238E27FC236}">
                <a16:creationId xmlns:a16="http://schemas.microsoft.com/office/drawing/2014/main" id="{0066CB1F-7A94-97FC-AD00-4B2C65DC5A8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31433" y="72008"/>
            <a:ext cx="8683730" cy="41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24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Calibri" panose="020F0502020204030204" pitchFamily="34" charset="0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제목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78798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EEEC098-25D3-D32B-2B33-D9C5A64F285A}"/>
              </a:ext>
            </a:extLst>
          </p:cNvPr>
          <p:cNvSpPr/>
          <p:nvPr userDrawn="1"/>
        </p:nvSpPr>
        <p:spPr>
          <a:xfrm>
            <a:off x="7658100" y="4848225"/>
            <a:ext cx="1343025" cy="142875"/>
          </a:xfrm>
          <a:prstGeom prst="rect">
            <a:avLst/>
          </a:prstGeom>
          <a:solidFill>
            <a:srgbClr val="2122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0FBD3CC1-CBC7-EE84-3764-CA1A75EBB616}"/>
              </a:ext>
            </a:extLst>
          </p:cNvPr>
          <p:cNvCxnSpPr>
            <a:cxnSpLocks/>
          </p:cNvCxnSpPr>
          <p:nvPr userDrawn="1"/>
        </p:nvCxnSpPr>
        <p:spPr>
          <a:xfrm>
            <a:off x="577998" y="2959452"/>
            <a:ext cx="8072312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Google Shape;13;p3">
            <a:extLst>
              <a:ext uri="{FF2B5EF4-FFF2-40B4-BE49-F238E27FC236}">
                <a16:creationId xmlns:a16="http://schemas.microsoft.com/office/drawing/2014/main" id="{52445F32-41E7-2352-2500-A138AB7B018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7200" y="199540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4287"/>
              </a:buClr>
              <a:buSzPts val="3600"/>
              <a:buFont typeface="Malgun Gothic"/>
              <a:buNone/>
              <a:defRPr sz="4000" b="1" i="0" u="none" strike="noStrike" cap="none">
                <a:solidFill>
                  <a:schemeClr val="tx1"/>
                </a:solidFill>
                <a:latin typeface="나눔스퀘어" panose="020B0600000101010101" pitchFamily="50" charset="-127"/>
                <a:ea typeface="나눔스퀘어" panose="020B0600000101010101" pitchFamily="50" charset="-127"/>
                <a:cs typeface="나눔스퀘어" panose="020B0600000101010101" pitchFamily="50" charset="-127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dirty="0"/>
              <a:t>감사합니다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8270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F2D2BF-F713-99D1-922C-AC3C0CDC5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 dirty="0"/>
              <a:t>마스터 제목 스타일 편집</a:t>
            </a:r>
            <a:endParaRPr kumimoji="1" lang="ko-Kore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7FEE06-E57E-36FF-F575-9FAC00F36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 dirty="0"/>
              <a:t>마스터 텍스트 스타일을 편집하려면 클릭</a:t>
            </a:r>
          </a:p>
          <a:p>
            <a:pPr lvl="1"/>
            <a:r>
              <a:rPr kumimoji="1" lang="ko-KR" altLang="en-US" dirty="0"/>
              <a:t>두 번째 수준</a:t>
            </a:r>
          </a:p>
          <a:p>
            <a:pPr lvl="2"/>
            <a:r>
              <a:rPr kumimoji="1" lang="ko-KR" altLang="en-US" dirty="0"/>
              <a:t>세 번째 수준</a:t>
            </a:r>
          </a:p>
          <a:p>
            <a:pPr lvl="3"/>
            <a:r>
              <a:rPr kumimoji="1" lang="ko-KR" altLang="en-US" dirty="0"/>
              <a:t>네 번째 수준</a:t>
            </a:r>
          </a:p>
          <a:p>
            <a:pPr lvl="4"/>
            <a:r>
              <a:rPr kumimoji="1" lang="ko-KR" altLang="en-US" dirty="0"/>
              <a:t>다섯 번째 수준</a:t>
            </a:r>
            <a:endParaRPr kumimoji="1" lang="ko-Kore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D69AFE-4456-8313-6D2B-E93082BB8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3300" y="479799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‹#›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3589162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65" r:id="rId2"/>
    <p:sldLayoutId id="2147483658" r:id="rId3"/>
    <p:sldLayoutId id="214748366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나눔스퀘어" panose="020B0600000101010101" pitchFamily="50" charset="-127"/>
          <a:ea typeface="나눔스퀘어" panose="020B0600000101010101" pitchFamily="50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 dirty="0"/>
              <a:t>20</a:t>
            </a:r>
            <a:r>
              <a:rPr kumimoji="1" lang="en-US" altLang="ko-KR" dirty="0"/>
              <a:t>25</a:t>
            </a:r>
            <a:r>
              <a:rPr kumimoji="1" lang="en-US" altLang="ko-Kore-KR" dirty="0"/>
              <a:t>-11-0</a:t>
            </a:r>
            <a:r>
              <a:rPr kumimoji="1" lang="en-US" altLang="ko-KR" dirty="0"/>
              <a:t>2</a:t>
            </a:r>
          </a:p>
          <a:p>
            <a:pPr lvl="0">
              <a:defRPr/>
            </a:pPr>
            <a:r>
              <a:rPr kumimoji="1" lang="en-US" altLang="ko-Kore-KR" dirty="0" err="1"/>
              <a:t>HnVLab</a:t>
            </a:r>
            <a:endParaRPr kumimoji="1" lang="en-US" altLang="ko-Kore-KR" dirty="0"/>
          </a:p>
          <a:p>
            <a:pPr lvl="0">
              <a:defRPr/>
            </a:pPr>
            <a:r>
              <a:rPr kumimoji="1" lang="ko-KR" altLang="en-US" dirty="0"/>
              <a:t>김태윤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12239" y="827842"/>
            <a:ext cx="8719521" cy="1263881"/>
          </a:xfrm>
        </p:spPr>
        <p:txBody>
          <a:bodyPr/>
          <a:lstStyle/>
          <a:p>
            <a:pPr lvl="0">
              <a:defRPr/>
            </a:pPr>
            <a:r>
              <a:rPr kumimoji="1" lang="en-US" altLang="ko-KR" dirty="0"/>
              <a:t>Water</a:t>
            </a:r>
            <a:r>
              <a:rPr kumimoji="1" lang="ko-KR" altLang="en-US" dirty="0"/>
              <a:t> </a:t>
            </a:r>
            <a:r>
              <a:rPr kumimoji="1" lang="en-US" altLang="ko-KR" dirty="0"/>
              <a:t>Quality</a:t>
            </a:r>
            <a:r>
              <a:rPr kumimoji="1" lang="ko-KR" altLang="en-US" dirty="0"/>
              <a:t> </a:t>
            </a:r>
            <a:r>
              <a:rPr kumimoji="1" lang="en-US" altLang="ko-KR" dirty="0"/>
              <a:t>with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Lstm</a:t>
            </a:r>
            <a:endParaRPr kumimoji="1" lang="en-US" altLang="ko-KR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/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2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데이터 처리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84EBFD2-F01A-26C1-AEAE-D470257C6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_8_10(</a:t>
            </a:r>
            <a:r>
              <a:rPr lang="ko-KR" altLang="en-US" dirty="0"/>
              <a:t>정제</a:t>
            </a:r>
            <a:r>
              <a:rPr lang="en-US" altLang="ko-KR" dirty="0"/>
              <a:t>)_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2_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3_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4_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</a:p>
          <a:p>
            <a:r>
              <a:rPr lang="ko-KR" altLang="en-US" dirty="0"/>
              <a:t>포인트</a:t>
            </a:r>
            <a:r>
              <a:rPr lang="en-US" altLang="ko-KR" dirty="0"/>
              <a:t>5_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</a:t>
            </a:r>
            <a:endParaRPr lang="en-CA" altLang="ko-KR" dirty="0"/>
          </a:p>
          <a:p>
            <a:endParaRPr lang="en-CA" altLang="ko-KR" dirty="0"/>
          </a:p>
          <a:p>
            <a:r>
              <a:rPr lang="ko-KR" altLang="en-US" dirty="0"/>
              <a:t>각각 일일 평균 </a:t>
            </a:r>
            <a:r>
              <a:rPr lang="en-US" altLang="ko-KR" dirty="0"/>
              <a:t>or</a:t>
            </a:r>
            <a:r>
              <a:rPr lang="ko-KR" altLang="en-US" dirty="0"/>
              <a:t> 첫</a:t>
            </a:r>
            <a:r>
              <a:rPr lang="en-US" altLang="ko-KR" dirty="0"/>
              <a:t> </a:t>
            </a:r>
            <a:r>
              <a:rPr lang="ko-KR" altLang="en-US" dirty="0"/>
              <a:t>행을 추출한 데이터 생성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CD54B1-C514-3166-A456-F5CEE8500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3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7FF15F1-E4D5-1D91-4E76-D72D8EFC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F91D03-27C1-E148-F5B3-C940A0DF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" r="61499"/>
          <a:stretch>
            <a:fillRect/>
          </a:stretch>
        </p:blipFill>
        <p:spPr>
          <a:xfrm>
            <a:off x="6156613" y="745332"/>
            <a:ext cx="2754183" cy="365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31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24EA9-92A8-F762-AF02-85E5EBD95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03AFA1-B903-F48C-C013-5AE27015C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Avg_</a:t>
            </a:r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 </a:t>
            </a:r>
            <a:r>
              <a:rPr lang="ko-KR" altLang="en-US" dirty="0"/>
              <a:t>내용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Fst</a:t>
            </a:r>
            <a:r>
              <a:rPr lang="en-US" altLang="ko-KR" dirty="0"/>
              <a:t>_</a:t>
            </a:r>
            <a:r>
              <a:rPr lang="ko-KR" altLang="en-US" dirty="0"/>
              <a:t>포인트</a:t>
            </a:r>
            <a:r>
              <a:rPr lang="en-US" altLang="ko-KR" dirty="0"/>
              <a:t>1_</a:t>
            </a:r>
            <a:r>
              <a:rPr lang="ko-KR" altLang="en-US" dirty="0"/>
              <a:t>통합</a:t>
            </a:r>
            <a:r>
              <a:rPr lang="en-US" altLang="ko-KR" dirty="0"/>
              <a:t>_6_8_10_</a:t>
            </a:r>
            <a:r>
              <a:rPr lang="ko-KR" altLang="en-US" dirty="0"/>
              <a:t>기상병합</a:t>
            </a:r>
            <a:r>
              <a:rPr lang="en-US" altLang="ko-KR" dirty="0"/>
              <a:t>.csv </a:t>
            </a:r>
            <a:r>
              <a:rPr lang="ko-KR" altLang="en-US" dirty="0"/>
              <a:t>내용</a:t>
            </a:r>
            <a:endParaRPr lang="en-US" altLang="ko-KR" dirty="0"/>
          </a:p>
          <a:p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3C4D1E9-D6CA-2985-794C-33431DA3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4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05EC70A-C69E-E0B4-DA88-A09D14B6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DDB11E-99E2-578F-20A0-9A9565A270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359"/>
          <a:stretch>
            <a:fillRect/>
          </a:stretch>
        </p:blipFill>
        <p:spPr>
          <a:xfrm>
            <a:off x="0" y="949893"/>
            <a:ext cx="9144000" cy="13078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D480A12-9633-5074-9706-DD4EE3EDAA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662"/>
          <a:stretch>
            <a:fillRect/>
          </a:stretch>
        </p:blipFill>
        <p:spPr>
          <a:xfrm>
            <a:off x="0" y="2953457"/>
            <a:ext cx="9144000" cy="1392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36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3C181-4531-4574-1C75-C3D3A6ED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C0C84B1-0C95-6CCA-7624-B82E79FDC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일별 </a:t>
            </a:r>
            <a:r>
              <a:rPr lang="ko-KR" altLang="en-US" dirty="0" err="1"/>
              <a:t>클로로필</a:t>
            </a:r>
            <a:r>
              <a:rPr lang="ko-KR" altLang="en-US" dirty="0"/>
              <a:t> 농도 변화 시각화 및 선형 보간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93BAD5F-5725-6033-AA80-97638073B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5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DC45D8C-756A-81BC-7C4C-4B4FE7609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FD1AF8-CE07-437E-375B-35E2059C1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10" y="1532631"/>
            <a:ext cx="4188177" cy="20782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8BD6EE-56C0-7EBF-7227-ACF31727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087" y="1437402"/>
            <a:ext cx="4571999" cy="22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574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AAD1A-7C2C-1703-3379-C4FD768C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93907C-1C98-578E-576D-554386380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altLang="ko-KR" dirty="0" err="1"/>
              <a:t>MinMaxScaling</a:t>
            </a:r>
            <a:r>
              <a:rPr lang="en-CA" altLang="ko-KR" dirty="0"/>
              <a:t> </a:t>
            </a:r>
            <a:r>
              <a:rPr lang="ko-KR" altLang="en-US" dirty="0"/>
              <a:t>및 시퀀스 생성</a:t>
            </a:r>
            <a:r>
              <a:rPr lang="en-US" altLang="ko-KR" dirty="0"/>
              <a:t>(</a:t>
            </a:r>
            <a:r>
              <a:rPr lang="ko-KR" altLang="en-US" dirty="0"/>
              <a:t>입력</a:t>
            </a:r>
            <a:r>
              <a:rPr lang="en-US" altLang="ko-KR" dirty="0"/>
              <a:t>: 5</a:t>
            </a:r>
            <a:r>
              <a:rPr lang="ko-KR" altLang="en-US" dirty="0"/>
              <a:t>일 </a:t>
            </a:r>
            <a:r>
              <a:rPr lang="en-US" altLang="ko-KR" dirty="0"/>
              <a:t>-&gt; </a:t>
            </a:r>
            <a:r>
              <a:rPr lang="ko-KR" altLang="en-US" dirty="0"/>
              <a:t>출력</a:t>
            </a:r>
            <a:r>
              <a:rPr lang="en-US" altLang="ko-KR" dirty="0"/>
              <a:t>: 1</a:t>
            </a:r>
            <a:r>
              <a:rPr lang="ko-KR" altLang="en-US" dirty="0"/>
              <a:t>일</a:t>
            </a:r>
            <a:r>
              <a:rPr lang="en-US" altLang="ko-KR"/>
              <a:t>)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DFD594C-59B2-088A-0C06-062D952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6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363A092-6FF6-473C-3B45-E2C5FA746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7923BD-0B81-FC64-D8FB-2C48EE251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66" y="923695"/>
            <a:ext cx="5665734" cy="392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3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8FD63-76F8-1C9A-1452-872779B72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6E7B4C-0196-AABD-71BE-DE88F2636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데이터셋 분할 및 데이터 </a:t>
            </a:r>
            <a:r>
              <a:rPr lang="ko-KR" altLang="en-US" dirty="0" err="1"/>
              <a:t>로더</a:t>
            </a:r>
            <a:r>
              <a:rPr lang="ko-KR" altLang="en-US" dirty="0"/>
              <a:t> 생성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8810F7B-4B78-F24E-8D44-7A96D8053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7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93D65CA-CEAE-E91E-2353-7E2E441B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데이터</a:t>
            </a:r>
            <a:endParaRPr lang="en-CA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58F6DF1-8FF6-2BBF-1E65-3BFEF8C4E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66" y="958731"/>
            <a:ext cx="7517112" cy="378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0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3D27E-37D0-33FD-6663-D2DE82A89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061733D1-E004-52F1-3FC6-5D6FCCB6F5BE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276DE3-9DFC-64A5-4887-BFEA3999A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8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1B4058E-D9E6-76E9-1300-F2F46D0B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모델 영역</a:t>
            </a:r>
          </a:p>
        </p:txBody>
      </p:sp>
    </p:spTree>
    <p:extLst>
      <p:ext uri="{BB962C8B-B14F-4D97-AF65-F5344CB8AC3E}">
        <p14:creationId xmlns:p14="http://schemas.microsoft.com/office/powerpoint/2010/main" val="247739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043FCA2-DBF7-E36B-BC36-A9DDADDCC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Vanilla LSTM &amp; Stacked LSTM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C123140-21B0-94A9-CBB6-83E69B57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9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99723B6-D1C3-D293-4DE7-5CE1DD72B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모델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30399D-1CBC-E955-1F1D-FCE67CED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3" y="1607752"/>
            <a:ext cx="4254623" cy="12454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9A6846-EB30-79DB-9A47-3F4943216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689" y="614602"/>
            <a:ext cx="4604729" cy="398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04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D8BFD-EBAC-32E1-E3A0-381C69BF5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BED1E809-E6EA-3952-E7DC-DBF683778CF9}"/>
              </a:ext>
            </a:extLst>
          </p:cNvPr>
          <p:cNvPicPr>
            <a:picLocks noGrp="1"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lum/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harpenSoften amount="-100000"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935" y="-1"/>
            <a:ext cx="9134129" cy="5143501"/>
          </a:xfrm>
          <a:prstGeom prst="rect">
            <a:avLst/>
          </a:prstGeom>
          <a:effectLst>
            <a:softEdge rad="0"/>
          </a:effectLst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B6A494-2F75-5671-DE1C-7FA62B3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r>
              <a:rPr kumimoji="1" lang="en-US" altLang="ko-Kore-KR"/>
              <a:t>- </a:t>
            </a:r>
            <a:fld id="{BBFF076F-A898-B846-A356-7049BC8CABD5}" type="slidenum">
              <a:rPr kumimoji="1" lang="en-US" altLang="en-US"/>
              <a:pPr lvl="0">
                <a:defRPr/>
              </a:pPr>
              <a:t>10</a:t>
            </a:fld>
            <a:r>
              <a:rPr kumimoji="1" lang="en-US" altLang="ko-Kore-KR"/>
              <a:t> -</a:t>
            </a:r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7721283A-834F-23B4-F9A6-A14F74BF0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460" y="2031682"/>
            <a:ext cx="8641080" cy="1080135"/>
          </a:xfrm>
        </p:spPr>
        <p:txBody>
          <a:bodyPr/>
          <a:lstStyle/>
          <a:p>
            <a:pPr lvl="0">
              <a:defRPr/>
            </a:pPr>
            <a:r>
              <a:rPr lang="ko-KR" altLang="en-US" sz="3600" dirty="0"/>
              <a:t>결과 영역</a:t>
            </a:r>
          </a:p>
        </p:txBody>
      </p:sp>
    </p:spTree>
    <p:extLst>
      <p:ext uri="{BB962C8B-B14F-4D97-AF65-F5344CB8AC3E}">
        <p14:creationId xmlns:p14="http://schemas.microsoft.com/office/powerpoint/2010/main" val="153210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DB552-D175-F674-30AA-15F1036D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8D70024-A174-A788-9685-210525487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클로로필</a:t>
            </a:r>
            <a:r>
              <a:rPr lang="ko-KR" altLang="en-US" dirty="0"/>
              <a:t> 광도 및 </a:t>
            </a:r>
            <a:r>
              <a:rPr lang="ko-KR" altLang="en-US" dirty="0" err="1"/>
              <a:t>클로로필</a:t>
            </a:r>
            <a:r>
              <a:rPr lang="ko-KR" altLang="en-US" dirty="0"/>
              <a:t> 농도 예측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53EFF64-13C1-2FDB-CCA1-11FB9C5E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11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7AED587-1701-71B1-7200-258CC81F3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시각화</a:t>
            </a:r>
            <a:endParaRPr lang="en-CA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7F11D-49D6-AC08-D8BF-3D9FC1E39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53" y="950432"/>
            <a:ext cx="7868356" cy="324263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B3C59D9-A21B-64FA-60E0-2285F5C26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242" y="4193068"/>
            <a:ext cx="3889516" cy="75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569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00DDF-0859-D1BA-B3D1-3FAD94986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640637-3A10-6747-D157-92DE2EAD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결과 로그 </a:t>
            </a:r>
            <a:r>
              <a:rPr lang="en-US" altLang="ko-KR" dirty="0"/>
              <a:t>csv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가중치 저장 </a:t>
            </a:r>
            <a:endParaRPr lang="en-CA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D01C98-9672-07B6-CF13-E6D3A393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12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FF91A50-178B-007A-7D56-005C58845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로그 및 가중치 저장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F9C1C2-E149-F471-75BF-9CE7D93EC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152"/>
          <a:stretch>
            <a:fillRect/>
          </a:stretch>
        </p:blipFill>
        <p:spPr>
          <a:xfrm>
            <a:off x="0" y="934555"/>
            <a:ext cx="9144000" cy="1334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D6ABD-E81F-8A46-BC09-59097E1E4F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1" t="36722"/>
          <a:stretch>
            <a:fillRect/>
          </a:stretch>
        </p:blipFill>
        <p:spPr>
          <a:xfrm>
            <a:off x="0" y="2269067"/>
            <a:ext cx="9144000" cy="13345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738A0C1-A997-B728-0BD1-BAB8944AF9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1583"/>
          <a:stretch>
            <a:fillRect/>
          </a:stretch>
        </p:blipFill>
        <p:spPr>
          <a:xfrm>
            <a:off x="1966271" y="3736978"/>
            <a:ext cx="1933571" cy="1334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49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464C4-B92E-7936-F167-BE45DA99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CF30A3D-278A-9F4C-33F1-9C54659E6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308" y="696395"/>
            <a:ext cx="2667992" cy="2098265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4A19B93-02CB-81E3-F011-902B6D82A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13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7A66A0DF-4C85-6616-D521-72748039F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78668AC-2E53-EAE7-4945-8FF24ECD2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5608" y="696396"/>
            <a:ext cx="2667992" cy="209826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C4885C9-E931-E933-7C16-E85BE9A1A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513" y="2794660"/>
            <a:ext cx="4138974" cy="2064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2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1D8F0-7EF8-EC8F-E61C-C8E8B0C61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64E166-9746-FF4E-1012-A94926778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14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0A7C310-124C-F8F3-C3FB-1133F4FA5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3A66853-FF66-95E8-04AA-EA81D4C66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33" y="901604"/>
            <a:ext cx="4834926" cy="362925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99F17B6-8F3A-4729-D418-09995D892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803" y="1325117"/>
            <a:ext cx="3639058" cy="56205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ACC848E-1236-FF9B-EC47-8612CB40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207" y="1887170"/>
            <a:ext cx="3266249" cy="277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61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C2C06-852D-B9D2-63D3-428DDA71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0D3B8DE-88BE-2E36-811E-9FE461C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15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7F107170-C810-ACF4-5556-6E184A543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83AC7C-0EC6-AA99-D9EF-274EF993C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33" y="914760"/>
            <a:ext cx="4409324" cy="33139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130F09A-6F7C-51DE-9C29-3F110BA2A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677" y="1972889"/>
            <a:ext cx="3218494" cy="27297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71D73D7-D86B-B758-DDE4-E94DDC273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8131" y="1439415"/>
            <a:ext cx="3610479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64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0CA8-7AA5-6C4C-CA1F-BBEB03233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0FD9124-6B9F-0DB9-FDE3-1957E8FF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16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0509F51-4B8D-5CB0-B063-2941061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59D3A63-4717-CECD-1A54-83C7F426A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0819"/>
            <a:ext cx="5224741" cy="392186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BD60223-ECFC-C006-F91B-80C2C48A2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684" y="1363904"/>
            <a:ext cx="3610479" cy="5430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868CDE1-2E6A-2E10-BED4-2311E49E9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927" y="1906905"/>
            <a:ext cx="3195991" cy="271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437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4871-A99B-AAAD-2D61-5E2E65E1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CA01FD9-BE4C-F865-79A2-9694C3E58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17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60BCBE8-63C6-5BD7-6C65-E4ECB1380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373284-5FD8-9CB8-AF54-A2D3320F9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33" y="784562"/>
            <a:ext cx="5146777" cy="38633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57731FA-4B52-F568-C13D-3B4B7AFC2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001164"/>
            <a:ext cx="3197807" cy="271224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B49CDA4-E371-32AE-1EFC-21CE22C64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600" y="1448637"/>
            <a:ext cx="3620005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65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CD6F0-41F6-EC9B-AD9D-D485EA623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646C489-D422-2F75-7977-73BDCCA8D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kumimoji="1" lang="en-US" altLang="ko-Kore-KR"/>
              <a:t>- </a:t>
            </a:r>
            <a:fld id="{BBFF076F-A898-B846-A356-7049BC8CABD5}" type="slidenum">
              <a:rPr kumimoji="1" lang="ko-Kore-KR" altLang="en-US" smtClean="0"/>
              <a:pPr/>
              <a:t>18</a:t>
            </a:fld>
            <a:r>
              <a:rPr kumimoji="1" lang="en-US" altLang="ko-Kore-KR"/>
              <a:t> -</a:t>
            </a:r>
            <a:endParaRPr kumimoji="1" lang="ko-Kore-KR" alt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C4517693-B562-39D5-D93B-22A78523F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  <a:endParaRPr lang="en-CA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B79614-3FEA-1851-BCCD-3F3FD88C8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33" y="907085"/>
            <a:ext cx="4807484" cy="360865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B9759BE-B79D-489F-1568-A5318563F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139351"/>
            <a:ext cx="3055615" cy="25916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EA839F2-F512-879B-7A92-F3713912F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741" y="1512759"/>
            <a:ext cx="3629532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6218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91B036-E7B9-AE85-98CB-BE7E1B321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ore-KR" altLang="en-US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078648621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238</Words>
  <Application>Microsoft Office PowerPoint</Application>
  <PresentationFormat>화면 슬라이드 쇼(16:9)</PresentationFormat>
  <Paragraphs>67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나눔스퀘어</vt:lpstr>
      <vt:lpstr>Malgun Gothic</vt:lpstr>
      <vt:lpstr>Arial</vt:lpstr>
      <vt:lpstr>디자인 사용자 지정</vt:lpstr>
      <vt:lpstr>Water Quality with Lstm</vt:lpstr>
      <vt:lpstr>데이터 처리</vt:lpstr>
      <vt:lpstr>사용 데이터</vt:lpstr>
      <vt:lpstr>사용 데이터</vt:lpstr>
      <vt:lpstr>사용 데이터</vt:lpstr>
      <vt:lpstr>사용 데이터</vt:lpstr>
      <vt:lpstr>사용 데이터</vt:lpstr>
      <vt:lpstr>모델 영역</vt:lpstr>
      <vt:lpstr>사용 모델</vt:lpstr>
      <vt:lpstr>결과 영역</vt:lpstr>
      <vt:lpstr>결과 시각화</vt:lpstr>
      <vt:lpstr>결과 로그 및 가중치 저장</vt:lpstr>
      <vt:lpstr>결과 분석</vt:lpstr>
      <vt:lpstr>결과 분석</vt:lpstr>
      <vt:lpstr>결과 분석</vt:lpstr>
      <vt:lpstr>결과 분석</vt:lpstr>
      <vt:lpstr>결과 분석</vt:lpstr>
      <vt:lpstr>결과 분석</vt:lpstr>
      <vt:lpstr>감사합니다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ryu</dc:creator>
  <cp:lastModifiedBy>태윤 김</cp:lastModifiedBy>
  <cp:revision>584</cp:revision>
  <dcterms:created xsi:type="dcterms:W3CDTF">2020-07-16T08:29:37Z</dcterms:created>
  <dcterms:modified xsi:type="dcterms:W3CDTF">2025-11-03T09:02:03Z</dcterms:modified>
  <cp:version>1000.0000.01</cp:version>
</cp:coreProperties>
</file>