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6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3" r:id="rId9"/>
    <p:sldId id="259" r:id="rId10"/>
    <p:sldId id="266" r:id="rId11"/>
    <p:sldId id="267" r:id="rId12"/>
    <p:sldId id="268" r:id="rId13"/>
    <p:sldId id="260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6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50A0A61-1CE1-43FC-A0B2-4807F1D7D8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22"/>
    <p:restoredTop sz="93855" autoAdjust="0"/>
  </p:normalViewPr>
  <p:slideViewPr>
    <p:cSldViewPr snapToGrid="0">
      <p:cViewPr varScale="1">
        <p:scale>
          <a:sx n="134" d="100"/>
          <a:sy n="134" d="100"/>
        </p:scale>
        <p:origin x="1410" y="120"/>
      </p:cViewPr>
      <p:guideLst>
        <p:guide orient="horz" pos="1616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13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71041C10-C4F4-41DF-A635-3783B359AC65}" type="datetime1">
              <a:rPr lang="en-CA"/>
              <a:pPr lvl="0">
                <a:defRPr/>
              </a:pPr>
              <a:t>2025-11-02</a:t>
            </a:fld>
            <a:endParaRPr lang="en-CA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5477CAA1-E64A-44A7-B1CD-5D64420BD71E}" type="slidenum">
              <a:rPr lang="en-CA"/>
              <a:pPr lvl="0"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>
            <a:extLst>
              <a:ext uri="{FF2B5EF4-FFF2-40B4-BE49-F238E27FC236}">
                <a16:creationId xmlns:a16="http://schemas.microsoft.com/office/drawing/2014/main" id="{D2E5EF59-9093-E225-9A21-1FA9AA765C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54123" y="2813005"/>
            <a:ext cx="6050744" cy="1234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spc="300">
                <a:latin typeface="+mn-lt"/>
                <a:ea typeface="나눔스퀘어" panose="020B0600000101010101" pitchFamily="50" charset="-127"/>
                <a:cs typeface="Calibri" panose="020F0502020204030204" pitchFamily="34" charset="0"/>
              </a:defRPr>
            </a:lvl1pPr>
          </a:lstStyle>
          <a:p>
            <a:r>
              <a:rPr lang="en-CA" dirty="0" err="1"/>
              <a:t>yyyy</a:t>
            </a:r>
            <a:r>
              <a:rPr lang="en-CA" dirty="0"/>
              <a:t>-mm-dd</a:t>
            </a:r>
          </a:p>
          <a:p>
            <a:r>
              <a:rPr lang="en-CA" dirty="0" err="1"/>
              <a:t>HnVLab</a:t>
            </a:r>
            <a:endParaRPr lang="en-CA" dirty="0"/>
          </a:p>
          <a:p>
            <a:r>
              <a:rPr lang="ko-KR" altLang="en-US" dirty="0"/>
              <a:t>이름</a:t>
            </a:r>
            <a:endParaRPr lang="en-CA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02D34CA-82BA-EC22-4EF2-DAC9337C29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4" t="30991" r="18439" b="32147"/>
          <a:stretch/>
        </p:blipFill>
        <p:spPr>
          <a:xfrm>
            <a:off x="7907312" y="4407256"/>
            <a:ext cx="1131758" cy="651590"/>
          </a:xfrm>
          <a:prstGeom prst="rect">
            <a:avLst/>
          </a:prstGeom>
        </p:spPr>
      </p:pic>
      <p:sp>
        <p:nvSpPr>
          <p:cNvPr id="18" name="Google Shape;13;p3">
            <a:extLst>
              <a:ext uri="{FF2B5EF4-FFF2-40B4-BE49-F238E27FC236}">
                <a16:creationId xmlns:a16="http://schemas.microsoft.com/office/drawing/2014/main" id="{CE01C8B8-4D53-B2E5-7921-589C1A6316E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16443" y="1009849"/>
            <a:ext cx="8719521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4287"/>
              </a:buClr>
              <a:buSzPts val="3600"/>
              <a:buFont typeface="Malgun Gothic"/>
              <a:buNone/>
              <a:defRPr sz="4000" b="1" i="0" u="none" strike="noStrike" cap="none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/>
              <a:t>제목</a:t>
            </a:r>
            <a:endParaRPr dirty="0"/>
          </a:p>
        </p:txBody>
      </p: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6307DB4C-51F1-CE9B-3568-3FEC847A7E51}"/>
              </a:ext>
            </a:extLst>
          </p:cNvPr>
          <p:cNvCxnSpPr>
            <a:cxnSpLocks/>
          </p:cNvCxnSpPr>
          <p:nvPr userDrawn="1"/>
        </p:nvCxnSpPr>
        <p:spPr>
          <a:xfrm>
            <a:off x="216443" y="661184"/>
            <a:ext cx="8726104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FA42C3-1746-ADF7-7495-FEC73E3BE6F7}"/>
              </a:ext>
            </a:extLst>
          </p:cNvPr>
          <p:cNvGrpSpPr/>
          <p:nvPr userDrawn="1"/>
        </p:nvGrpSpPr>
        <p:grpSpPr>
          <a:xfrm>
            <a:off x="209860" y="2223409"/>
            <a:ext cx="8726104" cy="0"/>
            <a:chOff x="187375" y="2223409"/>
            <a:chExt cx="8726104" cy="0"/>
          </a:xfrm>
        </p:grpSpPr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7FFA8791-FFEE-9C9E-BD35-A78EBD4E17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7375" y="2223409"/>
              <a:ext cx="6277433" cy="0"/>
            </a:xfrm>
            <a:prstGeom prst="line">
              <a:avLst/>
            </a:prstGeom>
            <a:ln w="444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485B8958-1472-BDB6-C9C9-50DD6C4309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4808" y="2223409"/>
              <a:ext cx="2448671" cy="0"/>
            </a:xfrm>
            <a:prstGeom prst="line">
              <a:avLst/>
            </a:prstGeom>
            <a:ln w="44450">
              <a:solidFill>
                <a:srgbClr val="2C7344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1F6AA72-91B6-A614-CA0A-5799F12D87FA}"/>
              </a:ext>
            </a:extLst>
          </p:cNvPr>
          <p:cNvGrpSpPr/>
          <p:nvPr userDrawn="1"/>
        </p:nvGrpSpPr>
        <p:grpSpPr>
          <a:xfrm>
            <a:off x="187375" y="4709219"/>
            <a:ext cx="1465674" cy="269391"/>
            <a:chOff x="5883552" y="4033871"/>
            <a:chExt cx="2660841" cy="51661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51116D72-49FE-7D8D-1213-7A30DFD4188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9113" t="51157" r="72071" b="22250"/>
            <a:stretch/>
          </p:blipFill>
          <p:spPr>
            <a:xfrm>
              <a:off x="5883552" y="4033871"/>
              <a:ext cx="517247" cy="51661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8C8EF5E-7441-55A9-0900-1AB5DA53395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25065" t="45412" r="14350" b="44627"/>
            <a:stretch/>
          </p:blipFill>
          <p:spPr>
            <a:xfrm>
              <a:off x="6340839" y="4033871"/>
              <a:ext cx="2203554" cy="512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21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45915A-86F7-4DD9-77F1-F250184E3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66" y="614601"/>
            <a:ext cx="8683730" cy="4251011"/>
          </a:xfrm>
        </p:spPr>
        <p:txBody>
          <a:bodyPr>
            <a:normAutofit/>
          </a:bodyPr>
          <a:lstStyle>
            <a:lvl1pPr>
              <a:defRPr sz="20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 sz="1800"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 sz="1600"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 sz="1400"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 sz="1400"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EB9DB-F6A4-1D82-CE8A-348BCA26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3300" y="4946240"/>
            <a:ext cx="2057400" cy="174774"/>
          </a:xfrm>
        </p:spPr>
        <p:txBody>
          <a:bodyPr/>
          <a:lstStyle>
            <a:lvl1pPr algn="ctr">
              <a:defRPr sz="800"/>
            </a:lvl1pPr>
          </a:lstStyle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‹#›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0EF0DFD4-B244-4B4F-36F1-C119A7E7CEDC}"/>
              </a:ext>
            </a:extLst>
          </p:cNvPr>
          <p:cNvCxnSpPr>
            <a:cxnSpLocks/>
          </p:cNvCxnSpPr>
          <p:nvPr userDrawn="1"/>
        </p:nvCxnSpPr>
        <p:spPr>
          <a:xfrm>
            <a:off x="227066" y="527390"/>
            <a:ext cx="8683731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6DD1A034-551E-CB59-B361-330134AF37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5" t="59669" r="18440" b="32147"/>
          <a:stretch/>
        </p:blipFill>
        <p:spPr>
          <a:xfrm>
            <a:off x="7803801" y="4974307"/>
            <a:ext cx="1340199" cy="174774"/>
          </a:xfrm>
          <a:prstGeom prst="rect">
            <a:avLst/>
          </a:prstGeom>
        </p:spPr>
      </p:pic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739129E3-13EA-B682-D3F1-0EA525FA2737}"/>
              </a:ext>
            </a:extLst>
          </p:cNvPr>
          <p:cNvCxnSpPr>
            <a:cxnSpLocks/>
          </p:cNvCxnSpPr>
          <p:nvPr userDrawn="1"/>
        </p:nvCxnSpPr>
        <p:spPr>
          <a:xfrm>
            <a:off x="0" y="4904791"/>
            <a:ext cx="9144000" cy="3033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82F6C43D-55D5-1364-577E-EC3159BC092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31433" y="72008"/>
            <a:ext cx="8683730" cy="41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4287"/>
              </a:buClr>
              <a:buSzPts val="3600"/>
              <a:buFont typeface="Malgun Gothic"/>
              <a:buNone/>
              <a:defRPr sz="2400" b="1" i="0" u="none" strike="noStrike" cap="none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/>
              <a:t>제목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4492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45915A-86F7-4DD9-77F1-F250184E3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66" y="614602"/>
            <a:ext cx="8683730" cy="4135368"/>
          </a:xfrm>
        </p:spPr>
        <p:txBody>
          <a:bodyPr>
            <a:normAutofit/>
          </a:bodyPr>
          <a:lstStyle>
            <a:lvl1pPr>
              <a:defRPr sz="20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 sz="1800"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 sz="1600"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 sz="1400"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 sz="1400"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EB9DB-F6A4-1D82-CE8A-348BCA26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3300" y="4946240"/>
            <a:ext cx="2057400" cy="174774"/>
          </a:xfrm>
        </p:spPr>
        <p:txBody>
          <a:bodyPr/>
          <a:lstStyle>
            <a:lvl1pPr algn="ctr">
              <a:defRPr sz="800"/>
            </a:lvl1pPr>
          </a:lstStyle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‹#›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B8F8755B-9990-6E2F-1633-40F4FB764D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17472"/>
            <a:ext cx="5869616" cy="1446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논문 등 출처 </a:t>
            </a:r>
            <a:r>
              <a:rPr lang="en-CA" altLang="ko-KR" dirty="0"/>
              <a:t>(</a:t>
            </a:r>
            <a:r>
              <a:rPr lang="ko-KR" altLang="en-US" dirty="0"/>
              <a:t>예</a:t>
            </a:r>
            <a:r>
              <a:rPr lang="en-CA" altLang="ko-KR" dirty="0"/>
              <a:t>: </a:t>
            </a:r>
            <a:r>
              <a:rPr lang="en-CA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Redmon, Joseph, et al. "You only look once: Unified, real-time object detection." </a:t>
            </a:r>
            <a:r>
              <a:rPr lang="en-CA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</a:t>
            </a:r>
            <a:r>
              <a:rPr lang="en-CA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2016.)</a:t>
            </a:r>
            <a:endParaRPr lang="en-CA" dirty="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0EF0DFD4-B244-4B4F-36F1-C119A7E7CEDC}"/>
              </a:ext>
            </a:extLst>
          </p:cNvPr>
          <p:cNvCxnSpPr>
            <a:cxnSpLocks/>
          </p:cNvCxnSpPr>
          <p:nvPr userDrawn="1"/>
        </p:nvCxnSpPr>
        <p:spPr>
          <a:xfrm>
            <a:off x="227066" y="527390"/>
            <a:ext cx="8683731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6DD1A034-551E-CB59-B361-330134AF37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5" t="59669" r="18440" b="32147"/>
          <a:stretch/>
        </p:blipFill>
        <p:spPr>
          <a:xfrm>
            <a:off x="7803801" y="4974307"/>
            <a:ext cx="1340199" cy="174774"/>
          </a:xfrm>
          <a:prstGeom prst="rect">
            <a:avLst/>
          </a:prstGeom>
        </p:spPr>
      </p:pic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739129E3-13EA-B682-D3F1-0EA525FA2737}"/>
              </a:ext>
            </a:extLst>
          </p:cNvPr>
          <p:cNvCxnSpPr>
            <a:cxnSpLocks/>
          </p:cNvCxnSpPr>
          <p:nvPr userDrawn="1"/>
        </p:nvCxnSpPr>
        <p:spPr>
          <a:xfrm>
            <a:off x="0" y="4904791"/>
            <a:ext cx="9144000" cy="3033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0066CB1F-7A94-97FC-AD00-4B2C65DC5A8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31433" y="72008"/>
            <a:ext cx="8683730" cy="41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4287"/>
              </a:buClr>
              <a:buSzPts val="3600"/>
              <a:buFont typeface="Malgun Gothic"/>
              <a:buNone/>
              <a:defRPr sz="2400" b="1" i="0" u="none" strike="noStrike" cap="none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/>
              <a:t>제목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8798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EEEC098-25D3-D32B-2B33-D9C5A64F285A}"/>
              </a:ext>
            </a:extLst>
          </p:cNvPr>
          <p:cNvSpPr/>
          <p:nvPr userDrawn="1"/>
        </p:nvSpPr>
        <p:spPr>
          <a:xfrm>
            <a:off x="7658100" y="4848225"/>
            <a:ext cx="1343025" cy="142875"/>
          </a:xfrm>
          <a:prstGeom prst="rect">
            <a:avLst/>
          </a:prstGeom>
          <a:solidFill>
            <a:srgbClr val="212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0FBD3CC1-CBC7-EE84-3764-CA1A75EBB616}"/>
              </a:ext>
            </a:extLst>
          </p:cNvPr>
          <p:cNvCxnSpPr>
            <a:cxnSpLocks/>
          </p:cNvCxnSpPr>
          <p:nvPr userDrawn="1"/>
        </p:nvCxnSpPr>
        <p:spPr>
          <a:xfrm>
            <a:off x="577998" y="2959452"/>
            <a:ext cx="807231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Google Shape;13;p3">
            <a:extLst>
              <a:ext uri="{FF2B5EF4-FFF2-40B4-BE49-F238E27FC236}">
                <a16:creationId xmlns:a16="http://schemas.microsoft.com/office/drawing/2014/main" id="{52445F32-41E7-2352-2500-A138AB7B018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7200" y="199540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4287"/>
              </a:buClr>
              <a:buSzPts val="3600"/>
              <a:buFont typeface="Malgun Gothic"/>
              <a:buNone/>
              <a:defRPr sz="4000" b="1" i="0" u="none" strike="noStrike" cap="none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" panose="020B0600000101010101" pitchFamily="50" charset="-127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/>
              <a:t>감사합니다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270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F2D2BF-F713-99D1-922C-AC3C0CDC5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7FEE06-E57E-36FF-F575-9FAC00F36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69AFE-4456-8313-6D2B-E93082BB8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79799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‹#›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589162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5" r:id="rId2"/>
    <p:sldLayoutId id="2147483658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ore-KR" dirty="0"/>
              <a:t>20</a:t>
            </a:r>
            <a:r>
              <a:rPr kumimoji="1" lang="en-US" altLang="ko-KR" dirty="0"/>
              <a:t>25</a:t>
            </a:r>
            <a:r>
              <a:rPr kumimoji="1" lang="en-US" altLang="ko-Kore-KR" dirty="0"/>
              <a:t>-11-0</a:t>
            </a:r>
            <a:r>
              <a:rPr kumimoji="1" lang="en-US" altLang="ko-KR" dirty="0"/>
              <a:t>2</a:t>
            </a:r>
          </a:p>
          <a:p>
            <a:pPr lvl="0">
              <a:defRPr/>
            </a:pPr>
            <a:r>
              <a:rPr kumimoji="1" lang="en-US" altLang="ko-Kore-KR" dirty="0" err="1"/>
              <a:t>HnVLab</a:t>
            </a:r>
            <a:endParaRPr kumimoji="1" lang="en-US" altLang="ko-Kore-KR" dirty="0"/>
          </a:p>
          <a:p>
            <a:pPr lvl="0">
              <a:defRPr/>
            </a:pPr>
            <a:r>
              <a:rPr kumimoji="1" lang="ko-KR" altLang="en-US" dirty="0"/>
              <a:t>김태윤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12239" y="827842"/>
            <a:ext cx="8719521" cy="1263881"/>
          </a:xfrm>
        </p:spPr>
        <p:txBody>
          <a:bodyPr/>
          <a:lstStyle/>
          <a:p>
            <a:pPr lvl="0">
              <a:defRPr/>
            </a:pPr>
            <a:r>
              <a:rPr kumimoji="1" lang="en-US" altLang="ko-KR" dirty="0"/>
              <a:t>Water</a:t>
            </a:r>
            <a:r>
              <a:rPr kumimoji="1" lang="ko-KR" altLang="en-US" dirty="0"/>
              <a:t> </a:t>
            </a:r>
            <a:r>
              <a:rPr kumimoji="1" lang="en-US" altLang="ko-KR" dirty="0"/>
              <a:t>Quality</a:t>
            </a:r>
            <a:r>
              <a:rPr kumimoji="1" lang="ko-KR" altLang="en-US" dirty="0"/>
              <a:t> </a:t>
            </a:r>
            <a:r>
              <a:rPr kumimoji="1" lang="en-US" altLang="ko-KR" dirty="0"/>
              <a:t>with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Lstm</a:t>
            </a:r>
            <a:endParaRPr kumimoji="1"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5"/>
          <p:cNvPicPr>
            <a:picLocks noGrp="1"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lum/>
            <a:extLst>
              <a:ext uri="783A4284-B454-46f5-B8C8-42B5039CE256">
                <hp:hncPhoto xmlns:hp="http://schemas.haansoft.com/office/presentation/8.0" xmlns:dsp="http://schemas.microsoft.com/office/drawing/2008/diagram" xmlns:dgm="http://schemas.openxmlformats.org/drawingml/2006/diagram" xmlns:c="http://schemas.openxmlformats.org/drawingml/2006/chart" xmlns="">
                  <hd:imgLayer xmlns:hd="http://schemas.haansoft.com/office/drawingml/8.0" r:embed="rId3">
                    <hd:imgEffect xmlns:hd="http://schemas.haansoft.com/office/drawingml/8.0">
                      <hd:artEffectSharpenSoften amount="-100000"/>
                    </hd:imgEffect>
                  </hd:imgLayer>
                </hp:hncPhoto>
              </a:ext>
            </a:extLst>
          </a:blip>
          <a:stretch>
            <a:fillRect/>
          </a:stretch>
        </p:blipFill>
        <p:spPr>
          <a:xfrm>
            <a:off x="4935" y="-1"/>
            <a:ext cx="9134129" cy="5143501"/>
          </a:xfrm>
          <a:prstGeom prst="rect">
            <a:avLst/>
          </a:prstGeom>
          <a:effectLst>
            <a:softEdge rad="0"/>
          </a:effectLst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ore-KR"/>
              <a:t>- </a:t>
            </a:r>
            <a:fld id="{BBFF076F-A898-B846-A356-7049BC8CABD5}" type="slidenum">
              <a:rPr kumimoji="1" lang="en-US" altLang="en-US"/>
              <a:pPr lvl="0">
                <a:defRPr/>
              </a:pPr>
              <a:t>2</a:t>
            </a:fld>
            <a:r>
              <a:rPr kumimoji="1" lang="en-US" altLang="ko-Kore-KR"/>
              <a:t> -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51460" y="2031682"/>
            <a:ext cx="8641080" cy="1080135"/>
          </a:xfrm>
        </p:spPr>
        <p:txBody>
          <a:bodyPr/>
          <a:lstStyle/>
          <a:p>
            <a:pPr lvl="0">
              <a:defRPr/>
            </a:pPr>
            <a:r>
              <a:rPr lang="ko-KR" altLang="en-US" sz="3600" dirty="0"/>
              <a:t>데이터 처리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84EBFD2-F01A-26C1-AEAE-D470257C6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포인트</a:t>
            </a:r>
            <a:r>
              <a:rPr lang="en-US" altLang="ko-KR" dirty="0"/>
              <a:t>1_</a:t>
            </a:r>
            <a:r>
              <a:rPr lang="ko-KR" altLang="en-US" dirty="0"/>
              <a:t>통합</a:t>
            </a:r>
            <a:r>
              <a:rPr lang="en-US" altLang="ko-KR" dirty="0"/>
              <a:t>_8_10(</a:t>
            </a:r>
            <a:r>
              <a:rPr lang="ko-KR" altLang="en-US" dirty="0"/>
              <a:t>정제</a:t>
            </a:r>
            <a:r>
              <a:rPr lang="en-US" altLang="ko-KR" dirty="0"/>
              <a:t>)_</a:t>
            </a:r>
            <a:r>
              <a:rPr lang="ko-KR" altLang="en-US" dirty="0"/>
              <a:t>기상병합</a:t>
            </a:r>
            <a:r>
              <a:rPr lang="en-US" altLang="ko-KR" dirty="0"/>
              <a:t>.csv</a:t>
            </a:r>
          </a:p>
          <a:p>
            <a:r>
              <a:rPr lang="ko-KR" altLang="en-US" dirty="0"/>
              <a:t>포인트</a:t>
            </a:r>
            <a:r>
              <a:rPr lang="en-US" altLang="ko-KR" dirty="0"/>
              <a:t>1_</a:t>
            </a:r>
            <a:r>
              <a:rPr lang="ko-KR" altLang="en-US" dirty="0"/>
              <a:t>통합</a:t>
            </a:r>
            <a:r>
              <a:rPr lang="en-US" altLang="ko-KR" dirty="0"/>
              <a:t>_6_8_10_</a:t>
            </a:r>
            <a:r>
              <a:rPr lang="ko-KR" altLang="en-US" dirty="0"/>
              <a:t>기상병합</a:t>
            </a:r>
            <a:r>
              <a:rPr lang="en-US" altLang="ko-KR" dirty="0"/>
              <a:t>.csv</a:t>
            </a:r>
          </a:p>
          <a:p>
            <a:r>
              <a:rPr lang="ko-KR" altLang="en-US" dirty="0"/>
              <a:t>포인트</a:t>
            </a:r>
            <a:r>
              <a:rPr lang="en-US" altLang="ko-KR" dirty="0"/>
              <a:t>2_</a:t>
            </a:r>
            <a:r>
              <a:rPr lang="ko-KR" altLang="en-US" dirty="0"/>
              <a:t>통합</a:t>
            </a:r>
            <a:r>
              <a:rPr lang="en-US" altLang="ko-KR" dirty="0"/>
              <a:t>_6_8_10_</a:t>
            </a:r>
            <a:r>
              <a:rPr lang="ko-KR" altLang="en-US" dirty="0"/>
              <a:t>기상병합</a:t>
            </a:r>
            <a:r>
              <a:rPr lang="en-US" altLang="ko-KR" dirty="0"/>
              <a:t>.csv</a:t>
            </a:r>
          </a:p>
          <a:p>
            <a:r>
              <a:rPr lang="ko-KR" altLang="en-US" dirty="0"/>
              <a:t>포인트</a:t>
            </a:r>
            <a:r>
              <a:rPr lang="en-US" altLang="ko-KR" dirty="0"/>
              <a:t>3_</a:t>
            </a:r>
            <a:r>
              <a:rPr lang="ko-KR" altLang="en-US" dirty="0"/>
              <a:t>통합</a:t>
            </a:r>
            <a:r>
              <a:rPr lang="en-US" altLang="ko-KR" dirty="0"/>
              <a:t>_6_8_10_</a:t>
            </a:r>
            <a:r>
              <a:rPr lang="ko-KR" altLang="en-US" dirty="0"/>
              <a:t>기상병합</a:t>
            </a:r>
            <a:r>
              <a:rPr lang="en-US" altLang="ko-KR" dirty="0"/>
              <a:t>.csv</a:t>
            </a:r>
          </a:p>
          <a:p>
            <a:r>
              <a:rPr lang="ko-KR" altLang="en-US" dirty="0"/>
              <a:t>포인트</a:t>
            </a:r>
            <a:r>
              <a:rPr lang="en-US" altLang="ko-KR" dirty="0"/>
              <a:t>4_</a:t>
            </a:r>
            <a:r>
              <a:rPr lang="ko-KR" altLang="en-US" dirty="0"/>
              <a:t>통합</a:t>
            </a:r>
            <a:r>
              <a:rPr lang="en-US" altLang="ko-KR" dirty="0"/>
              <a:t>_6_8_10_</a:t>
            </a:r>
            <a:r>
              <a:rPr lang="ko-KR" altLang="en-US" dirty="0"/>
              <a:t>기상병합</a:t>
            </a:r>
            <a:r>
              <a:rPr lang="en-US" altLang="ko-KR" dirty="0"/>
              <a:t>.csv</a:t>
            </a:r>
          </a:p>
          <a:p>
            <a:r>
              <a:rPr lang="ko-KR" altLang="en-US" dirty="0"/>
              <a:t>포인트</a:t>
            </a:r>
            <a:r>
              <a:rPr lang="en-US" altLang="ko-KR" dirty="0"/>
              <a:t>5_</a:t>
            </a:r>
            <a:r>
              <a:rPr lang="ko-KR" altLang="en-US" dirty="0"/>
              <a:t>통합</a:t>
            </a:r>
            <a:r>
              <a:rPr lang="en-US" altLang="ko-KR" dirty="0"/>
              <a:t>_6_8_10_</a:t>
            </a:r>
            <a:r>
              <a:rPr lang="ko-KR" altLang="en-US" dirty="0"/>
              <a:t>기상병합</a:t>
            </a:r>
            <a:r>
              <a:rPr lang="en-US" altLang="ko-KR" dirty="0"/>
              <a:t>.csv</a:t>
            </a:r>
            <a:endParaRPr lang="en-CA" altLang="ko-KR" dirty="0"/>
          </a:p>
          <a:p>
            <a:endParaRPr lang="en-CA" altLang="ko-KR" dirty="0"/>
          </a:p>
          <a:p>
            <a:r>
              <a:rPr lang="ko-KR" altLang="en-US" dirty="0"/>
              <a:t>각각 일일 평균 </a:t>
            </a:r>
            <a:r>
              <a:rPr lang="en-US" altLang="ko-KR" dirty="0"/>
              <a:t>or</a:t>
            </a:r>
            <a:r>
              <a:rPr lang="ko-KR" altLang="en-US" dirty="0"/>
              <a:t> 첫</a:t>
            </a:r>
            <a:r>
              <a:rPr lang="en-US" altLang="ko-KR" dirty="0"/>
              <a:t> </a:t>
            </a:r>
            <a:r>
              <a:rPr lang="ko-KR" altLang="en-US" dirty="0"/>
              <a:t>행을 추출한 데이터 생성</a:t>
            </a:r>
            <a:endParaRPr lang="en-CA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CD54B1-C514-3166-A456-F5CEE8500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3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7FF15F1-E4D5-1D91-4E76-D72D8EFC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 데이터</a:t>
            </a:r>
            <a:endParaRPr lang="en-CA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F91D03-27C1-E148-F5B3-C940A0DF02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" r="61499"/>
          <a:stretch>
            <a:fillRect/>
          </a:stretch>
        </p:blipFill>
        <p:spPr>
          <a:xfrm>
            <a:off x="6156613" y="745332"/>
            <a:ext cx="2754183" cy="365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1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24EA9-92A8-F762-AF02-85E5EBD95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603AFA1-B903-F48C-C013-5AE27015C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Avg_</a:t>
            </a:r>
            <a:r>
              <a:rPr lang="ko-KR" altLang="en-US" dirty="0"/>
              <a:t>포인트</a:t>
            </a:r>
            <a:r>
              <a:rPr lang="en-US" altLang="ko-KR" dirty="0"/>
              <a:t>1_</a:t>
            </a:r>
            <a:r>
              <a:rPr lang="ko-KR" altLang="en-US" dirty="0"/>
              <a:t>통합</a:t>
            </a:r>
            <a:r>
              <a:rPr lang="en-US" altLang="ko-KR" dirty="0"/>
              <a:t>_6_8_10_</a:t>
            </a:r>
            <a:r>
              <a:rPr lang="ko-KR" altLang="en-US" dirty="0"/>
              <a:t>기상병합</a:t>
            </a:r>
            <a:r>
              <a:rPr lang="en-US" altLang="ko-KR" dirty="0"/>
              <a:t>.csv </a:t>
            </a:r>
            <a:r>
              <a:rPr lang="ko-KR" altLang="en-US" dirty="0"/>
              <a:t>내용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Fst</a:t>
            </a:r>
            <a:r>
              <a:rPr lang="en-US" altLang="ko-KR" dirty="0"/>
              <a:t>_</a:t>
            </a:r>
            <a:r>
              <a:rPr lang="ko-KR" altLang="en-US" dirty="0"/>
              <a:t>포인트</a:t>
            </a:r>
            <a:r>
              <a:rPr lang="en-US" altLang="ko-KR" dirty="0"/>
              <a:t>1_</a:t>
            </a:r>
            <a:r>
              <a:rPr lang="ko-KR" altLang="en-US" dirty="0"/>
              <a:t>통합</a:t>
            </a:r>
            <a:r>
              <a:rPr lang="en-US" altLang="ko-KR" dirty="0"/>
              <a:t>_6_8_10_</a:t>
            </a:r>
            <a:r>
              <a:rPr lang="ko-KR" altLang="en-US" dirty="0"/>
              <a:t>기상병합</a:t>
            </a:r>
            <a:r>
              <a:rPr lang="en-US" altLang="ko-KR" dirty="0"/>
              <a:t>.csv </a:t>
            </a:r>
            <a:r>
              <a:rPr lang="ko-KR" altLang="en-US" dirty="0"/>
              <a:t>내용</a:t>
            </a:r>
            <a:endParaRPr lang="en-US" altLang="ko-KR" dirty="0"/>
          </a:p>
          <a:p>
            <a:endParaRPr lang="en-CA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3C4D1E9-D6CA-2985-794C-33431DA3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4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05EC70A-C69E-E0B4-DA88-A09D14B60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 데이터</a:t>
            </a:r>
            <a:endParaRPr lang="en-CA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DDB11E-99E2-578F-20A0-9A9565A27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359"/>
          <a:stretch>
            <a:fillRect/>
          </a:stretch>
        </p:blipFill>
        <p:spPr>
          <a:xfrm>
            <a:off x="0" y="949893"/>
            <a:ext cx="9144000" cy="13078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D480A12-9633-5074-9706-DD4EE3EDA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662"/>
          <a:stretch>
            <a:fillRect/>
          </a:stretch>
        </p:blipFill>
        <p:spPr>
          <a:xfrm>
            <a:off x="0" y="2953457"/>
            <a:ext cx="9144000" cy="139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69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3C181-4531-4574-1C75-C3D3A6ED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C0C84B1-0C95-6CCA-7624-B82E79FDC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일별 </a:t>
            </a:r>
            <a:r>
              <a:rPr lang="ko-KR" altLang="en-US" dirty="0" err="1"/>
              <a:t>클로로필</a:t>
            </a:r>
            <a:r>
              <a:rPr lang="ko-KR" altLang="en-US" dirty="0"/>
              <a:t> 농도 변화 시각화 및 선형 보간</a:t>
            </a:r>
            <a:endParaRPr lang="en-CA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93BAD5F-5725-6033-AA80-97638073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5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DC45D8C-756A-81BC-7C4C-4B4FE760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 데이터</a:t>
            </a:r>
            <a:endParaRPr lang="en-CA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FD1AF8-CE07-437E-375B-35E2059C1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10" y="1532631"/>
            <a:ext cx="4188177" cy="20782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8BD6EE-56C0-7EBF-7227-ACF317273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087" y="1437402"/>
            <a:ext cx="4571999" cy="22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74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AD1A-7C2C-1703-3379-C4FD768C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C93907C-1C98-578E-576D-554386380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ko-KR" dirty="0" err="1"/>
              <a:t>MinMaxScaling</a:t>
            </a:r>
            <a:r>
              <a:rPr lang="en-CA" altLang="ko-KR" dirty="0"/>
              <a:t> </a:t>
            </a:r>
            <a:r>
              <a:rPr lang="ko-KR" altLang="en-US" dirty="0"/>
              <a:t>및 시퀀스 생성</a:t>
            </a:r>
            <a:r>
              <a:rPr lang="en-US" altLang="ko-KR" dirty="0"/>
              <a:t>(</a:t>
            </a:r>
            <a:r>
              <a:rPr lang="ko-KR" altLang="en-US" dirty="0"/>
              <a:t>입력</a:t>
            </a:r>
            <a:r>
              <a:rPr lang="en-US" altLang="ko-KR" dirty="0"/>
              <a:t>: 5</a:t>
            </a:r>
            <a:r>
              <a:rPr lang="ko-KR" altLang="en-US" dirty="0"/>
              <a:t>일 </a:t>
            </a:r>
            <a:r>
              <a:rPr lang="en-US" altLang="ko-KR" dirty="0"/>
              <a:t>-&gt; </a:t>
            </a:r>
            <a:r>
              <a:rPr lang="ko-KR" altLang="en-US" dirty="0"/>
              <a:t>출력</a:t>
            </a:r>
            <a:r>
              <a:rPr lang="en-US" altLang="ko-KR" dirty="0"/>
              <a:t>: 1</a:t>
            </a:r>
            <a:r>
              <a:rPr lang="ko-KR" altLang="en-US" dirty="0"/>
              <a:t>일</a:t>
            </a:r>
            <a:r>
              <a:rPr lang="en-US" altLang="ko-KR"/>
              <a:t>)</a:t>
            </a:r>
            <a:endParaRPr lang="en-CA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DFD594C-59B2-088A-0C06-062D952D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6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363A092-6FF6-473C-3B45-E2C5FA74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 데이터</a:t>
            </a:r>
            <a:endParaRPr lang="en-CA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7923BD-0B81-FC64-D8FB-2C48EE251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66" y="923695"/>
            <a:ext cx="5665734" cy="392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3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FD63-76F8-1C9A-1452-872779B72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6E7B4C-0196-AABD-71BE-DE88F2636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데이터셋 분할 및 데이터 </a:t>
            </a:r>
            <a:r>
              <a:rPr lang="ko-KR" altLang="en-US" dirty="0" err="1"/>
              <a:t>로더</a:t>
            </a:r>
            <a:r>
              <a:rPr lang="ko-KR" altLang="en-US" dirty="0"/>
              <a:t> 생성</a:t>
            </a:r>
            <a:endParaRPr lang="en-CA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8810F7B-4B78-F24E-8D44-7A96D805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7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93D65CA-CEAE-E91E-2353-7E2E441B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 데이터</a:t>
            </a:r>
            <a:endParaRPr lang="en-CA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8F6DF1-8FF6-2BBF-1E65-3BFEF8C4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66" y="958731"/>
            <a:ext cx="7517112" cy="378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D27E-37D0-33FD-6663-D2DE82A8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5">
            <a:extLst>
              <a:ext uri="{FF2B5EF4-FFF2-40B4-BE49-F238E27FC236}">
                <a16:creationId xmlns:a16="http://schemas.microsoft.com/office/drawing/2014/main" id="{061733D1-E004-52F1-3FC6-5D6FCCB6F5BE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lum/>
            <a:extLst>
              <a:ext uri="783A4284-B454-46f5-B8C8-42B5039CE256">
                <hp:hncPhoto xmlns:hp="http://schemas.haansoft.com/office/presentation/8.0" xmlns:dsp="http://schemas.microsoft.com/office/drawing/2008/diagram" xmlns:dgm="http://schemas.openxmlformats.org/drawingml/2006/diagram" xmlns:c="http://schemas.openxmlformats.org/drawingml/2006/chart" xmlns="">
                  <hd:imgLayer xmlns:hd="http://schemas.haansoft.com/office/drawingml/8.0" r:embed="rId3">
                    <hd:imgEffect xmlns:hd="http://schemas.haansoft.com/office/drawingml/8.0">
                      <hd:artEffectSharpenSoften amount="-100000"/>
                    </hd:imgEffect>
                  </hd:imgLayer>
                </hp:hncPhoto>
              </a:ext>
            </a:extLst>
          </a:blip>
          <a:stretch>
            <a:fillRect/>
          </a:stretch>
        </p:blipFill>
        <p:spPr>
          <a:xfrm>
            <a:off x="4935" y="-1"/>
            <a:ext cx="9134129" cy="5143501"/>
          </a:xfrm>
          <a:prstGeom prst="rect">
            <a:avLst/>
          </a:prstGeom>
          <a:effectLst>
            <a:softEdge rad="0"/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276DE3-9DFC-64A5-4887-BFEA3999A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ore-KR"/>
              <a:t>- </a:t>
            </a:r>
            <a:fld id="{BBFF076F-A898-B846-A356-7049BC8CABD5}" type="slidenum">
              <a:rPr kumimoji="1" lang="en-US" altLang="en-US"/>
              <a:pPr lvl="0">
                <a:defRPr/>
              </a:pPr>
              <a:t>8</a:t>
            </a:fld>
            <a:r>
              <a:rPr kumimoji="1" lang="en-US" altLang="ko-Kore-KR"/>
              <a:t> -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1B4058E-D9E6-76E9-1300-F2F46D0B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" y="2031682"/>
            <a:ext cx="8641080" cy="1080135"/>
          </a:xfrm>
        </p:spPr>
        <p:txBody>
          <a:bodyPr/>
          <a:lstStyle/>
          <a:p>
            <a:pPr lvl="0">
              <a:defRPr/>
            </a:pPr>
            <a:r>
              <a:rPr lang="ko-KR" altLang="en-US" sz="3600" dirty="0"/>
              <a:t>모델 영역</a:t>
            </a:r>
          </a:p>
        </p:txBody>
      </p:sp>
    </p:spTree>
    <p:extLst>
      <p:ext uri="{BB962C8B-B14F-4D97-AF65-F5344CB8AC3E}">
        <p14:creationId xmlns:p14="http://schemas.microsoft.com/office/powerpoint/2010/main" val="247739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043FCA2-DBF7-E36B-BC36-A9DDADDCC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Vanilla LSTM &amp; Stacked LSTM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C123140-21B0-94A9-CBB6-83E69B57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9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99723B6-D1C3-D293-4DE7-5CE1DD72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 모델</a:t>
            </a:r>
            <a:endParaRPr lang="en-CA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A30399D-1CBC-E955-1F1D-FCE67CED5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3" y="1607752"/>
            <a:ext cx="4254623" cy="12454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9A6846-EB30-79DB-9A47-3F4943216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689" y="614602"/>
            <a:ext cx="4604729" cy="398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D8BFD-EBAC-32E1-E3A0-381C69BF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5">
            <a:extLst>
              <a:ext uri="{FF2B5EF4-FFF2-40B4-BE49-F238E27FC236}">
                <a16:creationId xmlns:a16="http://schemas.microsoft.com/office/drawing/2014/main" id="{BED1E809-E6EA-3952-E7DC-DBF683778CF9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lum/>
            <a:extLst>
              <a:ext uri="783A4284-B454-46f5-B8C8-42B5039CE256">
                <hp:hncPhoto xmlns:hp="http://schemas.haansoft.com/office/presentation/8.0" xmlns:dsp="http://schemas.microsoft.com/office/drawing/2008/diagram" xmlns:dgm="http://schemas.openxmlformats.org/drawingml/2006/diagram" xmlns:c="http://schemas.openxmlformats.org/drawingml/2006/chart" xmlns="">
                  <hd:imgLayer xmlns:hd="http://schemas.haansoft.com/office/drawingml/8.0" r:embed="rId3">
                    <hd:imgEffect xmlns:hd="http://schemas.haansoft.com/office/drawingml/8.0">
                      <hd:artEffectSharpenSoften amount="-100000"/>
                    </hd:imgEffect>
                  </hd:imgLayer>
                </hp:hncPhoto>
              </a:ext>
            </a:extLst>
          </a:blip>
          <a:stretch>
            <a:fillRect/>
          </a:stretch>
        </p:blipFill>
        <p:spPr>
          <a:xfrm>
            <a:off x="4935" y="-1"/>
            <a:ext cx="9134129" cy="5143501"/>
          </a:xfrm>
          <a:prstGeom prst="rect">
            <a:avLst/>
          </a:prstGeom>
          <a:effectLst>
            <a:softEdge rad="0"/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B6A494-2F75-5671-DE1C-7FA62B32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ore-KR"/>
              <a:t>- </a:t>
            </a:r>
            <a:fld id="{BBFF076F-A898-B846-A356-7049BC8CABD5}" type="slidenum">
              <a:rPr kumimoji="1" lang="en-US" altLang="en-US"/>
              <a:pPr lvl="0">
                <a:defRPr/>
              </a:pPr>
              <a:t>10</a:t>
            </a:fld>
            <a:r>
              <a:rPr kumimoji="1" lang="en-US" altLang="ko-Kore-KR"/>
              <a:t> -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721283A-834F-23B4-F9A6-A14F74BF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" y="2031682"/>
            <a:ext cx="8641080" cy="1080135"/>
          </a:xfrm>
        </p:spPr>
        <p:txBody>
          <a:bodyPr/>
          <a:lstStyle/>
          <a:p>
            <a:pPr lvl="0">
              <a:defRPr/>
            </a:pPr>
            <a:r>
              <a:rPr lang="ko-KR" altLang="en-US" sz="3600" dirty="0"/>
              <a:t>결과 영역</a:t>
            </a:r>
          </a:p>
        </p:txBody>
      </p:sp>
    </p:spTree>
    <p:extLst>
      <p:ext uri="{BB962C8B-B14F-4D97-AF65-F5344CB8AC3E}">
        <p14:creationId xmlns:p14="http://schemas.microsoft.com/office/powerpoint/2010/main" val="153210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DB552-D175-F674-30AA-15F1036D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8D70024-A174-A788-9685-210525487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클로로필</a:t>
            </a:r>
            <a:r>
              <a:rPr lang="ko-KR" altLang="en-US" dirty="0"/>
              <a:t> 광도 및 </a:t>
            </a:r>
            <a:r>
              <a:rPr lang="ko-KR" altLang="en-US" dirty="0" err="1"/>
              <a:t>클로로필</a:t>
            </a:r>
            <a:r>
              <a:rPr lang="ko-KR" altLang="en-US" dirty="0"/>
              <a:t> 농도 예측</a:t>
            </a:r>
            <a:endParaRPr lang="en-CA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53EFF64-13C1-2FDB-CCA1-11FB9C5E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11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7AED587-1701-71B1-7200-258CC81F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시각화</a:t>
            </a:r>
            <a:endParaRPr lang="en-CA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E7F11D-49D6-AC08-D8BF-3D9FC1E39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53" y="950432"/>
            <a:ext cx="7868356" cy="32426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B3C59D9-A21B-64FA-60E0-2285F5C26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242" y="4193068"/>
            <a:ext cx="3889516" cy="75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69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00DDF-0859-D1BA-B3D1-3FAD94986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3640637-3A10-6747-D157-92DE2EADA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결과 로그 </a:t>
            </a:r>
            <a:r>
              <a:rPr lang="en-US" altLang="ko-KR" dirty="0"/>
              <a:t>csv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가중치 저장 </a:t>
            </a:r>
            <a:endParaRPr lang="en-CA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D01C98-9672-07B6-CF13-E6D3A393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ko-Kore-KR"/>
              <a:t>- </a:t>
            </a:r>
            <a:fld id="{BBFF076F-A898-B846-A356-7049BC8CABD5}" type="slidenum">
              <a:rPr kumimoji="1" lang="ko-Kore-KR" altLang="en-US" smtClean="0"/>
              <a:pPr/>
              <a:t>12</a:t>
            </a:fld>
            <a:r>
              <a:rPr kumimoji="1" lang="en-US" altLang="ko-Kore-KR"/>
              <a:t> -</a:t>
            </a:r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FF91A50-178B-007A-7D56-005C5884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로그 및 가중치 저장</a:t>
            </a:r>
            <a:endParaRPr lang="en-CA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F9C1C2-E149-F471-75BF-9CE7D93E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152"/>
          <a:stretch>
            <a:fillRect/>
          </a:stretch>
        </p:blipFill>
        <p:spPr>
          <a:xfrm>
            <a:off x="0" y="934555"/>
            <a:ext cx="9144000" cy="13345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EAD6ABD-E81F-8A46-BC09-59097E1E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1" t="36722"/>
          <a:stretch>
            <a:fillRect/>
          </a:stretch>
        </p:blipFill>
        <p:spPr>
          <a:xfrm>
            <a:off x="0" y="2269067"/>
            <a:ext cx="9144000" cy="133451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738A0C1-A997-B728-0BD1-BAB8944AF9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1583"/>
          <a:stretch>
            <a:fillRect/>
          </a:stretch>
        </p:blipFill>
        <p:spPr>
          <a:xfrm>
            <a:off x="1966271" y="3736978"/>
            <a:ext cx="1933571" cy="133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49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1B036-E7B9-AE85-98CB-BE7E1B32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07864862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208</Words>
  <Application>Microsoft Office PowerPoint</Application>
  <PresentationFormat>화면 슬라이드 쇼(16:9)</PresentationFormat>
  <Paragraphs>55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나눔스퀘어</vt:lpstr>
      <vt:lpstr>Malgun Gothic</vt:lpstr>
      <vt:lpstr>Arial</vt:lpstr>
      <vt:lpstr>디자인 사용자 지정</vt:lpstr>
      <vt:lpstr>Water Quality with Lstm</vt:lpstr>
      <vt:lpstr>데이터 처리</vt:lpstr>
      <vt:lpstr>사용 데이터</vt:lpstr>
      <vt:lpstr>사용 데이터</vt:lpstr>
      <vt:lpstr>사용 데이터</vt:lpstr>
      <vt:lpstr>사용 데이터</vt:lpstr>
      <vt:lpstr>사용 데이터</vt:lpstr>
      <vt:lpstr>모델 영역</vt:lpstr>
      <vt:lpstr>사용 모델</vt:lpstr>
      <vt:lpstr>결과 영역</vt:lpstr>
      <vt:lpstr>결과 시각화</vt:lpstr>
      <vt:lpstr>결과 로그 및 가중치 저장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ryu</dc:creator>
  <cp:lastModifiedBy>태윤 김</cp:lastModifiedBy>
  <cp:revision>582</cp:revision>
  <dcterms:created xsi:type="dcterms:W3CDTF">2020-07-16T08:29:37Z</dcterms:created>
  <dcterms:modified xsi:type="dcterms:W3CDTF">2025-11-02T08:57:07Z</dcterms:modified>
  <cp:version>1000.0000.01</cp:version>
</cp:coreProperties>
</file>